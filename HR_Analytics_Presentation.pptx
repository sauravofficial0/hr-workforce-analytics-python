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00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803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379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580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808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286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547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122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02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37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812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378260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9288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221395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494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9799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463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062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HR Workforce Analytics – Tech Company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b="1" dirty="0">
                <a:solidFill>
                  <a:schemeClr val="tx1"/>
                </a:solidFill>
              </a:rPr>
              <a:t>Workforce, Performance &amp; Attrition Insights</a:t>
            </a:r>
          </a:p>
          <a:p>
            <a:r>
              <a:rPr b="1" dirty="0">
                <a:solidFill>
                  <a:schemeClr val="tx1"/>
                </a:solidFill>
              </a:rPr>
              <a:t>Prepared by: Saurav Chauhan – Data Analyst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09599" y="182880"/>
            <a:ext cx="589937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rPr dirty="0"/>
              <a:t>Data Quality &amp; </a:t>
            </a:r>
            <a:r>
              <a:rPr sz="4000" dirty="0"/>
              <a:t>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99" y="1371600"/>
            <a:ext cx="516161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dirty="0"/>
              <a:t>• Standardized Gender, Employment Type and Attrition labels</a:t>
            </a:r>
            <a:endParaRPr lang="en-IN" sz="2800" dirty="0"/>
          </a:p>
          <a:p>
            <a:r>
              <a:rPr sz="2800" dirty="0"/>
              <a:t>• Cleaned missing education and location values</a:t>
            </a:r>
            <a:endParaRPr lang="en-IN" sz="2800" dirty="0"/>
          </a:p>
          <a:p>
            <a:r>
              <a:rPr sz="2800" dirty="0"/>
              <a:t>• Removed unrealistic age and experience values</a:t>
            </a:r>
            <a:endParaRPr lang="en-IN" sz="2800" dirty="0"/>
          </a:p>
          <a:p>
            <a:r>
              <a:rPr sz="2800" dirty="0"/>
              <a:t>• Kept missing performance ratings intentionally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09599" y="101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Workforce Composition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6576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dirty="0"/>
              <a:t>• Workforce distribution across departments</a:t>
            </a:r>
            <a:endParaRPr lang="en-IN" sz="3600" dirty="0"/>
          </a:p>
          <a:p>
            <a:r>
              <a:rPr sz="3600" dirty="0"/>
              <a:t>• Gender mix varies significantly across teams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0" y="1188720"/>
            <a:ext cx="3657600" cy="1828800"/>
          </a:xfrm>
          <a:prstGeom prst="rect">
            <a:avLst/>
          </a:prstGeom>
          <a:noFill/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3582648" y="3529269"/>
            <a:ext cx="4921271" cy="2092325"/>
          </a:xfrm>
          <a:prstGeom prst="rect">
            <a:avLst/>
          </a:prstGeom>
          <a:noFill/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pic>
        <p:nvPicPr>
          <p:cNvPr id="8" name="Picture 7" descr="A graph of blue bars with text&#10;&#10;AI-generated content may be incorrect.">
            <a:extLst>
              <a:ext uri="{FF2B5EF4-FFF2-40B4-BE49-F238E27FC236}">
                <a16:creationId xmlns:a16="http://schemas.microsoft.com/office/drawing/2014/main" id="{A18C6751-B092-B361-6846-27676B4A5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2648" y="701039"/>
            <a:ext cx="5411449" cy="2696150"/>
          </a:xfrm>
          <a:prstGeom prst="rect">
            <a:avLst/>
          </a:prstGeom>
        </p:spPr>
      </p:pic>
      <p:pic>
        <p:nvPicPr>
          <p:cNvPr id="10" name="Picture 9" descr="A graph of different colored bars">
            <a:extLst>
              <a:ext uri="{FF2B5EF4-FFF2-40B4-BE49-F238E27FC236}">
                <a16:creationId xmlns:a16="http://schemas.microsoft.com/office/drawing/2014/main" id="{C4106E3A-5DCF-4799-EFF3-FAA7594FB8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2649" y="3529269"/>
            <a:ext cx="5411449" cy="31789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Salary &amp; Compensation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1" y="1097280"/>
            <a:ext cx="41148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dirty="0"/>
              <a:t>• Salary spread shows large variation</a:t>
            </a:r>
            <a:endParaRPr lang="en-IN" sz="4000" dirty="0"/>
          </a:p>
          <a:p>
            <a:r>
              <a:rPr sz="4000" dirty="0"/>
              <a:t>• Experience does not always convert into higher salary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0" y="1188720"/>
            <a:ext cx="3657600" cy="1828800"/>
          </a:xfrm>
          <a:prstGeom prst="rect">
            <a:avLst/>
          </a:prstGeom>
          <a:noFill/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Paste: Salary Distribution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3200400"/>
            <a:ext cx="3657600" cy="1828800"/>
          </a:xfrm>
          <a:prstGeom prst="rect">
            <a:avLst/>
          </a:prstGeom>
          <a:noFill/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Paste: Experience vs Salary Chart</a:t>
            </a:r>
          </a:p>
        </p:txBody>
      </p:sp>
      <p:pic>
        <p:nvPicPr>
          <p:cNvPr id="8" name="Picture 7" descr="A graph of salary distribution">
            <a:extLst>
              <a:ext uri="{FF2B5EF4-FFF2-40B4-BE49-F238E27FC236}">
                <a16:creationId xmlns:a16="http://schemas.microsoft.com/office/drawing/2014/main" id="{CEC69748-695A-10CA-3599-DEA66DBEA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1" y="767872"/>
            <a:ext cx="4691336" cy="2905226"/>
          </a:xfrm>
          <a:prstGeom prst="rect">
            <a:avLst/>
          </a:prstGeom>
        </p:spPr>
      </p:pic>
      <p:pic>
        <p:nvPicPr>
          <p:cNvPr id="10" name="Picture 9" descr="A graph of a diagram">
            <a:extLst>
              <a:ext uri="{FF2B5EF4-FFF2-40B4-BE49-F238E27FC236}">
                <a16:creationId xmlns:a16="http://schemas.microsoft.com/office/drawing/2014/main" id="{757A1419-8CAB-958A-D3CD-F6FE42432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1" y="3754331"/>
            <a:ext cx="4691336" cy="29207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rPr dirty="0"/>
              <a:t>Performance &amp; Productivity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1" y="1097280"/>
            <a:ext cx="41148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dirty="0"/>
              <a:t>• High performance is not always linked with high overtime</a:t>
            </a:r>
            <a:endParaRPr lang="en-IN" sz="3600" dirty="0"/>
          </a:p>
          <a:p>
            <a:r>
              <a:rPr sz="3600" dirty="0"/>
              <a:t>• Higher absenteeism aligns with lower performance bands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0" y="1188720"/>
            <a:ext cx="3657600" cy="1828800"/>
          </a:xfrm>
          <a:prstGeom prst="rect">
            <a:avLst/>
          </a:prstGeom>
          <a:noFill/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Paste: Performance vs Overtime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3200400"/>
            <a:ext cx="3657600" cy="1828800"/>
          </a:xfrm>
          <a:prstGeom prst="rect">
            <a:avLst/>
          </a:prstGeom>
          <a:noFill/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Paste: Absenteeism vs Performance Chart</a:t>
            </a:r>
          </a:p>
        </p:txBody>
      </p:sp>
      <p:pic>
        <p:nvPicPr>
          <p:cNvPr id="8" name="Picture 7" descr="A diagram of a performance rating">
            <a:extLst>
              <a:ext uri="{FF2B5EF4-FFF2-40B4-BE49-F238E27FC236}">
                <a16:creationId xmlns:a16="http://schemas.microsoft.com/office/drawing/2014/main" id="{F1FF247D-DBC2-617D-2C58-C45874A5D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4584" y="3537679"/>
            <a:ext cx="4544506" cy="3137440"/>
          </a:xfrm>
          <a:prstGeom prst="rect">
            <a:avLst/>
          </a:prstGeom>
        </p:spPr>
      </p:pic>
      <p:pic>
        <p:nvPicPr>
          <p:cNvPr id="10" name="Picture 9" descr="A diagram of a performance rating">
            <a:extLst>
              <a:ext uri="{FF2B5EF4-FFF2-40B4-BE49-F238E27FC236}">
                <a16:creationId xmlns:a16="http://schemas.microsoft.com/office/drawing/2014/main" id="{CD9D2409-FA56-7111-A174-FE9AB4590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4585" y="823876"/>
            <a:ext cx="4544506" cy="26051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Attrition Risk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1" y="1097280"/>
            <a:ext cx="41148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dirty="0"/>
              <a:t>• Department-wise attrition shows clear risk areas</a:t>
            </a:r>
            <a:endParaRPr lang="en-IN" sz="4000" dirty="0"/>
          </a:p>
          <a:p>
            <a:r>
              <a:rPr sz="4000" dirty="0"/>
              <a:t>• Targeted retention strategies required for high-risk teams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0" y="2011680"/>
            <a:ext cx="3657600" cy="1828800"/>
          </a:xfrm>
          <a:prstGeom prst="rect">
            <a:avLst/>
          </a:prstGeom>
          <a:noFill/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Paste: Attrition by Department Chart</a:t>
            </a:r>
          </a:p>
        </p:txBody>
      </p:sp>
      <p:pic>
        <p:nvPicPr>
          <p:cNvPr id="7" name="Picture 6" descr="A graph of blue rectangular bars with white text">
            <a:extLst>
              <a:ext uri="{FF2B5EF4-FFF2-40B4-BE49-F238E27FC236}">
                <a16:creationId xmlns:a16="http://schemas.microsoft.com/office/drawing/2014/main" id="{3E11D92D-0F09-0C0B-5118-C07590979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3034" y="1097280"/>
            <a:ext cx="4821046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Career Growth &amp; Promotion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1" y="1097280"/>
            <a:ext cx="41148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dirty="0"/>
              <a:t>• Promotion cycles vary significantly across departments</a:t>
            </a:r>
            <a:endParaRPr lang="en-IN" sz="3600" dirty="0"/>
          </a:p>
          <a:p>
            <a:r>
              <a:rPr sz="3600" dirty="0"/>
              <a:t>• Longer promotion gaps show higher attrition tendency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0" y="2011680"/>
            <a:ext cx="3657600" cy="1828800"/>
          </a:xfrm>
          <a:prstGeom prst="rect">
            <a:avLst/>
          </a:prstGeom>
          <a:noFill/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Paste: Promotion Gap Tables / Charts</a:t>
            </a:r>
          </a:p>
        </p:txBody>
      </p:sp>
      <p:pic>
        <p:nvPicPr>
          <p:cNvPr id="7" name="Picture 6" descr="A diagram of a performance rating">
            <a:extLst>
              <a:ext uri="{FF2B5EF4-FFF2-40B4-BE49-F238E27FC236}">
                <a16:creationId xmlns:a16="http://schemas.microsoft.com/office/drawing/2014/main" id="{475C5148-EFA3-F533-2BE9-DB03031BF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6711" y="1697451"/>
            <a:ext cx="4717368" cy="36390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Key HR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711283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dirty="0"/>
              <a:t>• Certain departments show consistently higher attrition</a:t>
            </a:r>
          </a:p>
          <a:p>
            <a:pPr lvl="1"/>
            <a:endParaRPr lang="en-IN" sz="3200" dirty="0"/>
          </a:p>
          <a:p>
            <a:pPr lvl="1"/>
            <a:r>
              <a:rPr sz="3200" dirty="0"/>
              <a:t>• Salary dispersion exists within similar experience groups</a:t>
            </a:r>
          </a:p>
          <a:p>
            <a:pPr lvl="1"/>
            <a:r>
              <a:rPr sz="3200" dirty="0"/>
              <a:t>• Performance is not driven by overtime alone</a:t>
            </a:r>
          </a:p>
          <a:p>
            <a:pPr lvl="1"/>
            <a:r>
              <a:rPr sz="3200" dirty="0"/>
              <a:t>• Promotion delays visible in some teams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5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Business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79"/>
            <a:ext cx="855188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dirty="0"/>
              <a:t>• Review compensation in high-attrition departments</a:t>
            </a:r>
          </a:p>
          <a:p>
            <a:pPr lvl="1"/>
            <a:endParaRPr lang="en-IN" sz="3600" dirty="0"/>
          </a:p>
          <a:p>
            <a:pPr lvl="1"/>
            <a:r>
              <a:rPr sz="3600" dirty="0"/>
              <a:t>• Introduce structured promotion review cycles</a:t>
            </a:r>
          </a:p>
          <a:p>
            <a:pPr lvl="1"/>
            <a:r>
              <a:rPr sz="3600" dirty="0"/>
              <a:t>• Monitor overtime to prevent burnout</a:t>
            </a:r>
          </a:p>
          <a:p>
            <a:pPr lvl="1"/>
            <a:r>
              <a:rPr sz="3600" dirty="0"/>
              <a:t>• Launch targeted retention programs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16</TotalTime>
  <Words>238</Words>
  <Application>Microsoft Office PowerPoint</Application>
  <PresentationFormat>On-screen Show (4:3)</PresentationFormat>
  <Paragraphs>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</vt:lpstr>
      <vt:lpstr>HR Workforce Analytics – Tech Company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Saurav Chauhan</cp:lastModifiedBy>
  <cp:revision>3</cp:revision>
  <dcterms:created xsi:type="dcterms:W3CDTF">2013-01-27T09:14:16Z</dcterms:created>
  <dcterms:modified xsi:type="dcterms:W3CDTF">2026-02-02T09:24:56Z</dcterms:modified>
  <cp:category/>
</cp:coreProperties>
</file>